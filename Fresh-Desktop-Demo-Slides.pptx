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0"/>
            <a:ext cx="731520" cy="6858000"/>
          </a:xfrm>
          <a:prstGeom prst="rect">
            <a:avLst/>
          </a:prstGeom>
          <a:solidFill>
            <a:srgbClr val="009246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0"/>
            <a:ext cx="731520" cy="6858000"/>
          </a:xfrm>
          <a:prstGeom prst="rect">
            <a:avLst/>
          </a:prstGeom>
          <a:solidFill>
            <a:srgbClr val="F4F5F0"/>
          </a:solidFill>
          <a:ln/>
        </p:spPr>
      </p:sp>
      <p:sp>
        <p:nvSpPr>
          <p:cNvPr id="4" name="Shape 2"/>
          <p:cNvSpPr/>
          <p:nvPr/>
        </p:nvSpPr>
        <p:spPr>
          <a:xfrm>
            <a:off x="11460175" y="0"/>
            <a:ext cx="731520" cy="6858000"/>
          </a:xfrm>
          <a:prstGeom prst="rect">
            <a:avLst/>
          </a:prstGeom>
          <a:solidFill>
            <a:srgbClr val="CD212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234440"/>
            <a:ext cx="1188720" cy="118872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1519733"/>
            <a:ext cx="618134" cy="6181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11430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Desktop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9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fresh to order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one-click Azure Virtual Desktop demo — a real, logged-in desktop in under 30 minutes. No domain controller. No manual RBAC. No copy-pasting IDs.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Nick Prignano  |  AHEAD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Deploys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9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One resource group. A working AVD desktop.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0519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Host Pool + VM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AVD host pool (Personal), one desktop app group + workspace, one Windows 11 Enterprise single-session VM — Microsoft Entra ID-joined only.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3938" y="169164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1920240"/>
            <a:ext cx="548640" cy="54864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519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6060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Gateway Egress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017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internet only, via a NAT Gateway. No public IP on the VM, not open to inbound traffic.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69164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6397" y="1920240"/>
            <a:ext cx="548640" cy="54864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70" y="20519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6397" y="26060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RBAC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56397" y="3017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deploys it is auto-granted Desktop Virtualization User and Virtual Machine User Login — no manual object-ID lookups.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45207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0749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Pizza-Themed Parameters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size, disk tier, and OS image render as real dropdowns in the Portal. "Sausage" also triggers a live Microsoft 365 Apps install.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3938" y="416052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2538" y="4389120"/>
            <a:ext cx="548640" cy="54864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212" y="452079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2538" y="50749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First Boot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12538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script generates the tricolor wallpaper and seeds a dark theme + green accent — no external file hosting.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27797" y="416052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30" name="Shape 23"/>
          <p:cNvSpPr/>
          <p:nvPr/>
        </p:nvSpPr>
        <p:spPr>
          <a:xfrm>
            <a:off x="8356397" y="4389120"/>
            <a:ext cx="548640" cy="54864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070" y="452079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56397" y="50749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Self-Destruct Tag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356397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 is tagged with a self-destruct deadline (1–12 hrs) so nothing outlives the demo.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9174175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DESKTOP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Order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9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on the landing page — real ARM parameters underneath.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22144" cy="4206240"/>
          </a:xfrm>
          <a:prstGeom prst="roundRect">
            <a:avLst>
              <a:gd name="adj" fmla="val 2900"/>
            </a:avLst>
          </a:prstGeom>
          <a:solidFill>
            <a:srgbClr val="141B2B"/>
          </a:solidFill>
          <a:ln/>
        </p:spPr>
      </p:sp>
      <p:sp>
        <p:nvSpPr>
          <p:cNvPr id="5" name="Shape 3"/>
          <p:cNvSpPr/>
          <p:nvPr/>
        </p:nvSpPr>
        <p:spPr>
          <a:xfrm>
            <a:off x="1581112" y="1965960"/>
            <a:ext cx="640080" cy="64008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731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788920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 Size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72968"/>
            <a:ext cx="224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size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657600"/>
            <a:ext cx="20649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Pan — D2as_v5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 — D4as_v5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Party — D8as_v5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36544" y="1691640"/>
            <a:ext cx="2522144" cy="4206240"/>
          </a:xfrm>
          <a:prstGeom prst="roundRect">
            <a:avLst>
              <a:gd name="adj" fmla="val 2900"/>
            </a:avLst>
          </a:prstGeom>
          <a:solidFill>
            <a:srgbClr val="141B2B"/>
          </a:solidFill>
          <a:ln/>
        </p:spPr>
      </p:sp>
      <p:sp>
        <p:nvSpPr>
          <p:cNvPr id="11" name="Shape 8"/>
          <p:cNvSpPr/>
          <p:nvPr/>
        </p:nvSpPr>
        <p:spPr>
          <a:xfrm>
            <a:off x="4377576" y="1965960"/>
            <a:ext cx="640080" cy="64008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195" y="21195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3704" y="2788920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73704" y="3172968"/>
            <a:ext cx="224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disk tier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692576" y="3657600"/>
            <a:ext cx="20649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— Standard HDD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Stuffed — Standard SSD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Dish — Premium SSD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33008" y="1691640"/>
            <a:ext cx="2522144" cy="4206240"/>
          </a:xfrm>
          <a:prstGeom prst="roundRect">
            <a:avLst>
              <a:gd name="adj" fmla="val 2900"/>
            </a:avLst>
          </a:prstGeom>
          <a:solidFill>
            <a:srgbClr val="141B2B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4040" y="1965960"/>
            <a:ext cx="640080" cy="64008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659" y="21195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70168" y="2788920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Toppings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70168" y="3172968"/>
            <a:ext cx="224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image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89040" y="3657600"/>
            <a:ext cx="20649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Cheese — 24H2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Sausage — 25H2 + M365 Apps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Pepperoni — 23H2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29471" y="1691640"/>
            <a:ext cx="2522144" cy="4206240"/>
          </a:xfrm>
          <a:prstGeom prst="roundRect">
            <a:avLst>
              <a:gd name="adj" fmla="val 2900"/>
            </a:avLst>
          </a:prstGeom>
          <a:solidFill>
            <a:srgbClr val="141B2B"/>
          </a:solidFill>
          <a:ln/>
        </p:spPr>
      </p:sp>
      <p:sp>
        <p:nvSpPr>
          <p:cNvPr id="23" name="Shape 18"/>
          <p:cNvSpPr/>
          <p:nvPr/>
        </p:nvSpPr>
        <p:spPr>
          <a:xfrm>
            <a:off x="9970503" y="1965960"/>
            <a:ext cx="640080" cy="64008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122" y="211957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66631" y="2788920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or Delivery?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66631" y="3172968"/>
            <a:ext cx="224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networking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285503" y="3657600"/>
            <a:ext cx="20649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— NAT Gateway (live)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— Firewall (coming soon)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Order Flow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174175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DESKTOP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On-Stage Showcase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9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audience actually watches while Azure does the 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574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011680"/>
            <a:ext cx="3924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Cost Calculator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34640"/>
            <a:ext cx="47471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real rates from the Azure Retail Prices API as you click through Size/Crust/Toppings — hourly rate, demo estimate, and monthly-if-left-running, all in the top-right badge.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691640"/>
            <a:ext cx="529574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10" name="Shape 7"/>
          <p:cNvSpPr/>
          <p:nvPr/>
        </p:nvSpPr>
        <p:spPr>
          <a:xfrm>
            <a:off x="6530188" y="2011680"/>
            <a:ext cx="685800" cy="68580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1762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98868" y="2011680"/>
            <a:ext cx="3924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 Delivery Tracker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0188" y="2834640"/>
            <a:ext cx="47471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5-stage animated progress bar (Order Placed → Delivered) timed to the real ~18-minute deploy. Click any stage to resync if the live deployment runs ahead or behind.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9574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480560"/>
            <a:ext cx="685800" cy="68580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6451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480560"/>
            <a:ext cx="3924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Clock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5303520"/>
            <a:ext cx="47471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Auto-starts the moment Deploy is clicked. Green → amber at 15:00 → pulsing red at 5:00. Hits 0:00? It flips to a counting-up "Overtime" display instead of stopping.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295748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0188" y="4480560"/>
            <a:ext cx="685800" cy="68580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80" y="464515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98868" y="4480560"/>
            <a:ext cx="3924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Auto-Destroy Timer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30188" y="5303520"/>
            <a:ext cx="47471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slider sets 1–12 hours until the resource group tags itself for teardown — a backstop, not a replacement for cleaning up right after the demo.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Showcase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9174175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DESKTOP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9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ARM template, four parallel extensions, zero manual setup.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141B2B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286000"/>
            <a:ext cx="548640" cy="54864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434" y="24176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2697480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29000" y="210312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141B2B"/>
          </a:solidFill>
          <a:ln/>
        </p:spPr>
      </p:sp>
      <p:sp>
        <p:nvSpPr>
          <p:cNvPr id="10" name="Shape 6"/>
          <p:cNvSpPr/>
          <p:nvPr/>
        </p:nvSpPr>
        <p:spPr>
          <a:xfrm>
            <a:off x="4297680" y="2286000"/>
            <a:ext cx="548640" cy="54864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54" y="241767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Deploy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580" y="2697480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17920" y="210312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141B2B"/>
          </a:solidFill>
          <a:ln/>
        </p:spPr>
      </p:sp>
      <p:sp>
        <p:nvSpPr>
          <p:cNvPr id="15" name="Shape 9"/>
          <p:cNvSpPr/>
          <p:nvPr/>
        </p:nvSpPr>
        <p:spPr>
          <a:xfrm>
            <a:off x="7086600" y="2286000"/>
            <a:ext cx="548640" cy="54864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274" y="2417674"/>
            <a:ext cx="285293" cy="28529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35508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Entra-Joined VM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2697480"/>
            <a:ext cx="365760" cy="36576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006840" y="210312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141B2B"/>
          </a:solidFill>
          <a:ln/>
        </p:spPr>
      </p:sp>
      <p:sp>
        <p:nvSpPr>
          <p:cNvPr id="20" name="Shape 12"/>
          <p:cNvSpPr/>
          <p:nvPr/>
        </p:nvSpPr>
        <p:spPr>
          <a:xfrm>
            <a:off x="9875520" y="2286000"/>
            <a:ext cx="548640" cy="54864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7194" y="2417674"/>
            <a:ext cx="285293" cy="285293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14400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Desktop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640080" y="3931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deploy-avd-demo.html triggers the Azure Portal against the hosted ARM template</a:t>
            </a:r>
            <a:endParaRPr lang="en-US" sz="1050" dirty="0"/>
          </a:p>
        </p:txBody>
      </p:sp>
      <p:sp>
        <p:nvSpPr>
          <p:cNvPr id="24" name="Text 15"/>
          <p:cNvSpPr txBox="1"/>
          <p:nvPr/>
        </p:nvSpPr>
        <p:spPr>
          <a:xfrm>
            <a:off x="3429000" y="3931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pool + app group + workspace + NAT Gateway provisioned; deployer auto-granted RBAC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6217920" y="3931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Enterprise, single-session, no domain controller, no public IP</a:t>
            </a:r>
            <a:endParaRPr lang="en-US" sz="1050" dirty="0"/>
          </a:p>
        </p:txBody>
      </p:sp>
      <p:sp>
        <p:nvSpPr>
          <p:cNvPr id="26" name="Text 17"/>
          <p:cNvSpPr txBox="1"/>
          <p:nvPr/>
        </p:nvSpPr>
        <p:spPr>
          <a:xfrm>
            <a:off x="9006840" y="3931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+ Office (Sausage only) applied in parallel — narrated live via the tracker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 egress via NAT Gateway  •  Entra ID join, no AD DS  •  RBAC granted via the ARM deployer() function  •  Not hardened for production</a:t>
            </a:r>
            <a:endParaRPr lang="en-US" sz="1050" dirty="0"/>
          </a:p>
        </p:txBody>
      </p:sp>
      <p:sp>
        <p:nvSpPr>
          <p:cNvPr id="28" name="Text 1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9174175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DESKTOP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On-Stage Run Sheet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9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deploy-avd-demo.html open, signed in as builder, before you start.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013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Pizza Size / Crust / Toppings — each click reveals the next step and updates the live price badge.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529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past Pickup or Delivery (Pickup is the only working option today).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044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VM admin password, then click Deploy to Azure.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5604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opens in a new tab; the presentation clock and order tracker both start automatically.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80136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4944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each stage as the tracker lights up — it's a choreographed timer, not a live feed. Click a stage icon to resync if needed.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309360" y="2743200"/>
            <a:ext cx="457200" cy="45720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285292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4944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tracker hits "Delivered," Log In and Cleanup reveal themselves.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309360" y="3794760"/>
            <a:ext cx="457200" cy="457200"/>
          </a:xfrm>
          <a:prstGeom prst="ellipse">
            <a:avLst/>
          </a:prstGeom>
          <a:solidFill>
            <a:srgbClr val="009246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390448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4944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Open AVD Web Client — this auto-pauses the presentation clock.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309360" y="4846320"/>
            <a:ext cx="457200" cy="457200"/>
          </a:xfrm>
          <a:prstGeom prst="ellipse">
            <a:avLst/>
          </a:prstGeom>
          <a:solidFill>
            <a:srgbClr val="CD212A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4956048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94944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after: use step 8's Copy Command &amp; Open Cloud Shell to tear the resource group down.</a:t>
            </a:r>
            <a:endParaRPr lang="en-US" sz="1250" dirty="0"/>
          </a:p>
        </p:txBody>
      </p:sp>
      <p:sp>
        <p:nvSpPr>
          <p:cNvPr id="28" name="Text 1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Run Sheet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9174175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DESKTOP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2026-08-26T21:28:28Z</dcterms:created>
  <dcterms:modified xsi:type="dcterms:W3CDTF">2026-08-26T21:28:28Z</dcterms:modified>
</cp:coreProperties>
</file>